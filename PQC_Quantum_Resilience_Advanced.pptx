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393631" y="1712671"/>
            <a:ext cx="963777" cy="963777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1190" y="1840229"/>
            <a:ext cx="708660" cy="70866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1268" y="2010308"/>
            <a:ext cx="368503" cy="368503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10879070" y="2457547"/>
            <a:ext cx="26394" cy="5046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827965" y="2508016"/>
            <a:ext cx="51105" cy="42750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753409" y="2550766"/>
            <a:ext cx="74556" cy="3397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657235" y="2584745"/>
            <a:ext cx="96174" cy="243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541813" y="2609117"/>
            <a:ext cx="115422" cy="1416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409985" y="2623280"/>
            <a:ext cx="131828" cy="360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0264996" y="2619849"/>
            <a:ext cx="144989" cy="703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110418" y="2602339"/>
            <a:ext cx="154578" cy="17510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9950055" y="2574788"/>
            <a:ext cx="160363" cy="2755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9787857" y="2537874"/>
            <a:ext cx="162198" cy="3691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9627817" y="2492507"/>
            <a:ext cx="160040" cy="4536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9473877" y="2439803"/>
            <a:ext cx="153940" cy="5270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329827" y="2381061"/>
            <a:ext cx="144050" cy="5874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9199213" y="2317727"/>
            <a:ext cx="130614" cy="6333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9085252" y="2251359"/>
            <a:ext cx="113961" cy="663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8990750" y="2183593"/>
            <a:ext cx="94502" cy="6776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8918034" y="2116097"/>
            <a:ext cx="72716" cy="674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868895" y="2050533"/>
            <a:ext cx="49139" cy="6556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844542" y="1988516"/>
            <a:ext cx="24353" cy="6201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844542" y="1931572"/>
            <a:ext cx="1033" cy="5694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845575" y="1881103"/>
            <a:ext cx="26394" cy="5046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871969" y="1838353"/>
            <a:ext cx="51105" cy="42750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923074" y="1804374"/>
            <a:ext cx="74556" cy="3397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997630" y="1780002"/>
            <a:ext cx="96174" cy="243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093804" y="1765839"/>
            <a:ext cx="115422" cy="1416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209226" y="1762232"/>
            <a:ext cx="131828" cy="360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341054" y="1762232"/>
            <a:ext cx="144989" cy="703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486043" y="1769270"/>
            <a:ext cx="154578" cy="17510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640621" y="1786780"/>
            <a:ext cx="160363" cy="2755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800984" y="1814331"/>
            <a:ext cx="162198" cy="3691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963182" y="1851245"/>
            <a:ext cx="160040" cy="4536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123222" y="1896612"/>
            <a:ext cx="153940" cy="5270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77162" y="1949316"/>
            <a:ext cx="144050" cy="5874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421212" y="2008058"/>
            <a:ext cx="130614" cy="6333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51826" y="2071392"/>
            <a:ext cx="113961" cy="663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665787" y="2137760"/>
            <a:ext cx="94502" cy="6776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760289" y="2205526"/>
            <a:ext cx="72716" cy="674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833005" y="2273022"/>
            <a:ext cx="49139" cy="6556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882144" y="2338586"/>
            <a:ext cx="24353" cy="6201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0905464" y="2400603"/>
            <a:ext cx="1033" cy="5694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0396142" y="3089035"/>
            <a:ext cx="53713" cy="189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10329609" y="3104416"/>
            <a:ext cx="66533" cy="35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10251895" y="3078457"/>
            <a:ext cx="77714" cy="259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10164914" y="3030734"/>
            <a:ext cx="86981" cy="4772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0070807" y="2962421"/>
            <a:ext cx="94107" cy="6831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9971890" y="2875201"/>
            <a:ext cx="98917" cy="8722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9870601" y="2771222"/>
            <a:ext cx="101289" cy="10397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9769434" y="2653043"/>
            <a:ext cx="101167" cy="11817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9670878" y="2523575"/>
            <a:ext cx="98556" cy="12946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9577361" y="2386005"/>
            <a:ext cx="93517" cy="13757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9491186" y="2243721"/>
            <a:ext cx="86175" cy="14228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9414474" y="2100227"/>
            <a:ext cx="76712" cy="1434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9349115" y="1959055"/>
            <a:ext cx="65359" cy="14117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9296718" y="1823683"/>
            <a:ext cx="52397" cy="13537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9258573" y="1697442"/>
            <a:ext cx="38145" cy="12624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9235619" y="1583443"/>
            <a:ext cx="22954" cy="11399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9228421" y="1484491"/>
            <a:ext cx="7198" cy="9895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228421" y="1403023"/>
            <a:ext cx="8737" cy="8146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237158" y="1341045"/>
            <a:ext cx="24454" cy="6197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261612" y="1300084"/>
            <a:ext cx="39572" cy="4096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301184" y="1281148"/>
            <a:ext cx="53713" cy="189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354897" y="1281148"/>
            <a:ext cx="66533" cy="35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421430" y="1284703"/>
            <a:ext cx="77714" cy="259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499144" y="1310662"/>
            <a:ext cx="86981" cy="4772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586125" y="1358385"/>
            <a:ext cx="94107" cy="6831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680232" y="1426698"/>
            <a:ext cx="98917" cy="8722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779149" y="1513918"/>
            <a:ext cx="101289" cy="10397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880438" y="1617897"/>
            <a:ext cx="101167" cy="11817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981605" y="1736076"/>
            <a:ext cx="98556" cy="12946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080161" y="1865544"/>
            <a:ext cx="93517" cy="13757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173678" y="2003114"/>
            <a:ext cx="86175" cy="14228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259853" y="2145398"/>
            <a:ext cx="76712" cy="1434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336565" y="2288892"/>
            <a:ext cx="65359" cy="14117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401924" y="2430064"/>
            <a:ext cx="52397" cy="13537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454321" y="2565436"/>
            <a:ext cx="38145" cy="12624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492466" y="2691677"/>
            <a:ext cx="22954" cy="11399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515420" y="2805676"/>
            <a:ext cx="7198" cy="9895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10513881" y="2904628"/>
            <a:ext cx="8737" cy="8146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10489427" y="2986096"/>
            <a:ext cx="24454" cy="6197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10449855" y="3048074"/>
            <a:ext cx="39572" cy="4096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9388204" y="3126167"/>
            <a:ext cx="44956" cy="3496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9355248" y="3068260"/>
            <a:ext cx="32956" cy="5790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9335102" y="2988841"/>
            <a:ext cx="20146" cy="7941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9328263" y="2889863"/>
            <a:ext cx="6839" cy="9897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328263" y="2773765"/>
            <a:ext cx="6637" cy="11609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334900" y="2643405"/>
            <a:ext cx="19949" cy="13036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354849" y="2501993"/>
            <a:ext cx="32769" cy="1414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387618" y="2353011"/>
            <a:ext cx="44783" cy="14898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432401" y="2200127"/>
            <a:ext cx="55694" cy="15288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488095" y="2047106"/>
            <a:ext cx="65233" cy="1530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553328" y="1897716"/>
            <a:ext cx="73167" cy="1493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626495" y="1755635"/>
            <a:ext cx="79299" cy="14208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705794" y="1624362"/>
            <a:ext cx="83478" cy="131273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789272" y="1507129"/>
            <a:ext cx="85602" cy="117233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874874" y="1406823"/>
            <a:ext cx="85618" cy="1003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960492" y="1325914"/>
            <a:ext cx="83525" cy="8090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044017" y="1266393"/>
            <a:ext cx="79376" cy="595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0123393" y="1229727"/>
            <a:ext cx="73273" cy="3666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0196666" y="1216819"/>
            <a:ext cx="65365" cy="1290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262031" y="1216819"/>
            <a:ext cx="55848" cy="1116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317879" y="1227985"/>
            <a:ext cx="44956" cy="3496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362835" y="1262952"/>
            <a:ext cx="32956" cy="5790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395791" y="1320859"/>
            <a:ext cx="20146" cy="7941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415937" y="1400278"/>
            <a:ext cx="6839" cy="9897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10416139" y="1499256"/>
            <a:ext cx="6637" cy="11609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10396190" y="1615354"/>
            <a:ext cx="19949" cy="13036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10363421" y="1745714"/>
            <a:ext cx="32769" cy="1414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0318638" y="1887126"/>
            <a:ext cx="44783" cy="14898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0262944" y="2036108"/>
            <a:ext cx="55694" cy="15288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0197711" y="2188992"/>
            <a:ext cx="65233" cy="1530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0124544" y="2342013"/>
            <a:ext cx="73167" cy="1493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0045245" y="2491403"/>
            <a:ext cx="79299" cy="14208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9961767" y="2633484"/>
            <a:ext cx="83478" cy="131273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9876165" y="2764757"/>
            <a:ext cx="85602" cy="117233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9790547" y="2881990"/>
            <a:ext cx="85618" cy="1003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9707022" y="2982296"/>
            <a:ext cx="83525" cy="8090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9627646" y="3063205"/>
            <a:ext cx="79376" cy="595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9554373" y="3122726"/>
            <a:ext cx="73273" cy="3666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9489008" y="3159392"/>
            <a:ext cx="65365" cy="1290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9433160" y="3161134"/>
            <a:ext cx="55848" cy="1116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10897362" y="2224278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913114" y="2366010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976104" y="1274673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85800" y="640080"/>
            <a:ext cx="7223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E1FF"/>
                </a:solidFill>
              </a:defRPr>
            </a:pPr>
            <a:r>
              <a:t>POST-QUANTUM</a:t>
            </a:r>
            <a:br/>
            <a:r>
              <a:t>CRYPTOGRAPHY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13232" y="242316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2F7FF"/>
                </a:solidFill>
              </a:defRPr>
            </a:pPr>
            <a:r>
              <a:t>ADAPTIVE PQC WRAPPER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1520" y="306324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5B8DA"/>
                </a:solidFill>
              </a:defRPr>
            </a:pPr>
            <a:r>
              <a:t>Quantum-Resilient Security Architecture</a:t>
            </a:r>
            <a:br/>
            <a:r>
              <a:t>with Threat Detection, Incident Response &amp; Crypto Agility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31520" y="4709160"/>
            <a:ext cx="2331720" cy="8686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◉  DETECT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Threat-aware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246120" y="4709160"/>
            <a:ext cx="2331720" cy="8686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⊘  RESPOND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Contain incidents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760720" y="4709160"/>
            <a:ext cx="2331720" cy="8686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↔  ADAPT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Change approved PQC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5989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1FF"/>
                </a:solidFill>
              </a:defRPr>
            </a:pPr>
            <a:r>
              <a:t>ML-KEM  •  ML-DSA  •  Algorithm Agility  •  Secure Recovery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01 •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Executive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A cryptographic control plane that sits between the application and PQC primitives.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40080" y="1508760"/>
            <a:ext cx="2423160" cy="356616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▣  APPLICATION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Python / Java / C / APIs</a:t>
            </a:r>
            <a:br/>
            <a:br/>
            <a:r>
              <a:t>Sends and receives protected data.</a:t>
            </a:r>
            <a:br/>
            <a:br/>
            <a:r>
              <a:t>The application uses a stable security interface.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3246120" y="3291840"/>
            <a:ext cx="640080" cy="0"/>
          </a:xfrm>
          <a:prstGeom prst="line">
            <a:avLst/>
          </a:prstGeom>
          <a:ln w="2540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4069080" y="1508760"/>
            <a:ext cx="3657600" cy="356616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⚙  ADAPTIVE PQC WRAPPER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Policy Engine</a:t>
            </a:r>
            <a:br/>
            <a:r>
              <a:t>Threat Monitor</a:t>
            </a:r>
            <a:br/>
            <a:r>
              <a:t>Incident Counter</a:t>
            </a:r>
            <a:br/>
            <a:r>
              <a:t>Crypto Abstraction</a:t>
            </a:r>
            <a:br/>
            <a:r>
              <a:t>Key / Session Manager</a:t>
            </a:r>
            <a:br/>
            <a:r>
              <a:t>Quarantine Controller</a:t>
            </a:r>
            <a:br/>
            <a:r>
              <a:t>Audit Logger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7955279" y="3291840"/>
            <a:ext cx="640081" cy="0"/>
          </a:xfrm>
          <a:prstGeom prst="line">
            <a:avLst/>
          </a:prstGeom>
          <a:ln w="2540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8778240" y="1508760"/>
            <a:ext cx="2651760" cy="356616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🔐  PQC CRYPTO LAYER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ML-KEM</a:t>
            </a:r>
            <a:br/>
            <a:r>
              <a:t>ML-DSA</a:t>
            </a:r>
            <a:br/>
            <a:br/>
            <a:r>
              <a:t>Approved alternatives</a:t>
            </a:r>
            <a:br/>
            <a:br/>
            <a:r>
              <a:t>Controlled transition</a:t>
            </a:r>
            <a:br/>
            <a:br/>
            <a:r>
              <a:t>Fresh security context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920240" y="54864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D37"/>
                </a:solidFill>
              </a:defRPr>
            </a:pPr>
            <a:r>
              <a:t>APPLICATION CODE STAYS STABLE  →  SECURITY POLICY CAN EVOLVE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02 • MOTIVATION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Why Do We Need an Adaptive Wrapper?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Quantum-safe migration is not only an algorithm problem; it is also an operational resilience problem.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40080" y="14173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⚠  QUANTUM THREAT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Future quantum computers threaten widely used public-key assumptions.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434840" y="14173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▣  STATIC CRYPTOGRAPHY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A hard-coded algorithm creates a difficult migration point.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!  INCIDENT RESPONSE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Detection alone is insufficient if the session keeps operating.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40080" y="34747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🔑  KEY / SESSION RISK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A compromised context should not simply continue unchanged.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434840" y="34747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↔  CRYPTO AGILITY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Security policies need a controlled way to adopt approved alternatives.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229600" y="34747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RECOVERY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A secure system must verify before returning to normal service.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280160" y="571500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1FF"/>
                </a:solidFill>
              </a:defRPr>
            </a:pPr>
            <a:r>
              <a:t>DESIGN QUESTION:  How can the system DETECT → CONTAIN → VERIFY → ADAPT → RECOVER?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03 •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Layered Quantum-Resilient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Separate application logic, security policy, incident response and cryptographic primitives.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85800" y="1490472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467DFF"/>
                </a:solidFill>
              </a:defRPr>
            </a:pPr>
            <a:r>
              <a:t>LAYER 1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240280" y="1325880"/>
            <a:ext cx="8778240" cy="713232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APPLICATION / DATA</a:t>
            </a:r>
          </a:p>
          <a:p>
            <a:pPr>
              <a:spcBef>
                <a:spcPts val="500"/>
              </a:spcBef>
              <a:defRPr sz="950">
                <a:solidFill>
                  <a:srgbClr val="A5B8DA"/>
                </a:solidFill>
              </a:defRPr>
            </a:pPr>
            <a:r>
              <a:t>Business logic • files • messages • APIs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629400" y="2039112"/>
            <a:ext cx="0" cy="20116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685800" y="2423160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E1FF"/>
                </a:solidFill>
              </a:defRPr>
            </a:pPr>
            <a:r>
              <a:t>LAYER 2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240280" y="2258568"/>
            <a:ext cx="8778240" cy="713232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PQC WRAPPER API</a:t>
            </a:r>
          </a:p>
          <a:p>
            <a:pPr>
              <a:spcBef>
                <a:spcPts val="500"/>
              </a:spcBef>
              <a:defRPr sz="950">
                <a:solidFill>
                  <a:srgbClr val="A5B8DA"/>
                </a:solidFill>
              </a:defRPr>
            </a:pPr>
            <a:r>
              <a:t>encrypt() • decrypt() • establish_session() • rotate_security()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6629400" y="2971800"/>
            <a:ext cx="0" cy="2011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685800" y="3355848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BE4BFF"/>
                </a:solidFill>
              </a:defRPr>
            </a:pPr>
            <a:r>
              <a:t>LAYER 3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240280" y="3191256"/>
            <a:ext cx="8778240" cy="713232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POLICY + DETECTION</a:t>
            </a:r>
          </a:p>
          <a:p>
            <a:pPr>
              <a:spcBef>
                <a:spcPts val="500"/>
              </a:spcBef>
              <a:defRPr sz="950">
                <a:solidFill>
                  <a:srgbClr val="A5B8DA"/>
                </a:solidFill>
              </a:defRPr>
            </a:pPr>
            <a:r>
              <a:t>Threat score • threshold • approved algorithm list • audit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6629400" y="3904488"/>
            <a:ext cx="0" cy="20116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685800" y="4288536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465A"/>
                </a:solidFill>
              </a:defRPr>
            </a:pPr>
            <a:r>
              <a:t>LAYER 4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240280" y="4123944"/>
            <a:ext cx="8778240" cy="713232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RESPONSE CONTROLLER</a:t>
            </a:r>
          </a:p>
          <a:p>
            <a:pPr>
              <a:spcBef>
                <a:spcPts val="500"/>
              </a:spcBef>
              <a:defRPr sz="950">
                <a:solidFill>
                  <a:srgbClr val="A5B8DA"/>
                </a:solidFill>
              </a:defRPr>
            </a:pPr>
            <a:r>
              <a:t>Block • quarantine • integrity check • recovery state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6629400" y="4837176"/>
            <a:ext cx="0" cy="201168"/>
          </a:xfrm>
          <a:prstGeom prst="line">
            <a:avLst/>
          </a:prstGeom>
          <a:ln w="13970">
            <a:solidFill>
              <a:srgbClr val="FF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ounded Rectangle 155"/>
          <p:cNvSpPr/>
          <p:nvPr/>
        </p:nvSpPr>
        <p:spPr>
          <a:xfrm>
            <a:off x="685800" y="5221224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4BF57D"/>
                </a:solidFill>
              </a:defRPr>
            </a:pPr>
            <a:r>
              <a:t>LAYER 5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240280" y="5056632"/>
            <a:ext cx="8778240" cy="713232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PQC PRIMITIVES</a:t>
            </a:r>
          </a:p>
          <a:p>
            <a:pPr>
              <a:spcBef>
                <a:spcPts val="500"/>
              </a:spcBef>
              <a:defRPr sz="950">
                <a:solidFill>
                  <a:srgbClr val="A5B8DA"/>
                </a:solidFill>
              </a:defRPr>
            </a:pPr>
            <a:r>
              <a:t>ML-KEM • ML-DSA • approved future alternatives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04 •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Full Adaptive Security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The core logic follows the architecture in your supplied diagram.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85800" y="1325880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APPLICATION / DATA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Input protected data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2057400" y="1828800"/>
            <a:ext cx="0" cy="228600"/>
          </a:xfrm>
          <a:prstGeom prst="line">
            <a:avLst/>
          </a:prstGeom>
          <a:ln w="1270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685800" y="1719072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PQC WRAPPER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Current approved algorithm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2057400" y="2221991"/>
            <a:ext cx="0" cy="228600"/>
          </a:xfrm>
          <a:prstGeom prst="line">
            <a:avLst/>
          </a:prstGeom>
          <a:ln w="1270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685800" y="2112264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SUSPICIOUS ACTIVITY?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Decision point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2057400" y="2615184"/>
            <a:ext cx="0" cy="228600"/>
          </a:xfrm>
          <a:prstGeom prst="line">
            <a:avLst/>
          </a:prstGeom>
          <a:ln w="1270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685800" y="2505456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COUNT + VERIFY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Validate incident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2057400" y="3008376"/>
            <a:ext cx="0" cy="228600"/>
          </a:xfrm>
          <a:prstGeom prst="line">
            <a:avLst/>
          </a:prstGeom>
          <a:ln w="12700">
            <a:solidFill>
              <a:srgbClr val="FFC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685800" y="2898648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COUNT ≥ N ?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Threshold decision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977639" y="3310128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BLOCK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Restrict suspicious session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977639" y="3703320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QUARANTINE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Isolate affected data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977639" y="4096512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SECURITY VERIFICATION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Check integrity / indicators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977639" y="4489704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VERIFY STATUS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Can it safely continue?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977639" y="4882896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CHANGE ALGORITHM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Select approved alternative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977639" y="5276088"/>
            <a:ext cx="274320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RE-ESTABLISH SECURITY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New keys / session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315200" y="5303520"/>
            <a:ext cx="338328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100" b="1">
                <a:solidFill>
                  <a:srgbClr val="F2F7FF"/>
                </a:solidFill>
              </a:defRPr>
            </a:pPr>
            <a:r>
              <a:t>RESUME SECURE DATA</a:t>
            </a:r>
          </a:p>
          <a:p>
            <a:pPr>
              <a:spcBef>
                <a:spcPts val="500"/>
              </a:spcBef>
              <a:defRPr sz="700">
                <a:solidFill>
                  <a:srgbClr val="A5B8DA"/>
                </a:solidFill>
              </a:defRPr>
            </a:pPr>
            <a:r>
              <a:t>Protected operation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3429000" y="3200400"/>
            <a:ext cx="502920" cy="0"/>
          </a:xfrm>
          <a:prstGeom prst="line">
            <a:avLst/>
          </a:prstGeom>
          <a:ln w="2286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6720840" y="5257800"/>
            <a:ext cx="548640" cy="0"/>
          </a:xfrm>
          <a:prstGeom prst="line">
            <a:avLst/>
          </a:prstGeom>
          <a:ln w="22860">
            <a:solidFill>
              <a:srgbClr val="4BF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7315200" y="1371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BF57D"/>
                </a:solidFill>
              </a:defRPr>
            </a:pPr>
            <a:r>
              <a:t>NORMAL PATH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315200" y="18288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8DA"/>
                </a:solidFill>
              </a:defRPr>
            </a:pPr>
            <a:r>
              <a:t>NO INCIDENT → MONITOR → CONTINUE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315200" y="25603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65A"/>
                </a:solidFill>
              </a:defRPr>
            </a:pPr>
            <a:r>
              <a:t>ESCALATION PATH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315200" y="30175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8DA"/>
                </a:solidFill>
              </a:defRPr>
            </a:pPr>
            <a:r>
              <a:t>INCIDENT → BLOCK → QUARANTINE → ADAPT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05 •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Threat Detection &amp; Confidence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Use multiple signals rather than treating a single anomaly as a confirmed attack.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85800" y="1417320"/>
            <a:ext cx="3794760" cy="566928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•  AUTHENTICATION</a:t>
            </a:r>
          </a:p>
          <a:p>
            <a:pPr>
              <a:spcBef>
                <a:spcPts val="500"/>
              </a:spcBef>
              <a:defRPr sz="850">
                <a:solidFill>
                  <a:srgbClr val="A5B8DA"/>
                </a:solidFill>
              </a:defRPr>
            </a:pPr>
            <a:r>
              <a:t>Repeated failures / unusual identity context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85800" y="2167128"/>
            <a:ext cx="3794760" cy="566928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•  TRAFFIC</a:t>
            </a:r>
          </a:p>
          <a:p>
            <a:pPr>
              <a:spcBef>
                <a:spcPts val="500"/>
              </a:spcBef>
              <a:defRPr sz="850">
                <a:solidFill>
                  <a:srgbClr val="A5B8DA"/>
                </a:solidFill>
              </a:defRPr>
            </a:pPr>
            <a:r>
              <a:t>Unexpected rate, pattern or endpoint behavior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85800" y="2916936"/>
            <a:ext cx="3794760" cy="566928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•  INTEGRITY</a:t>
            </a:r>
          </a:p>
          <a:p>
            <a:pPr>
              <a:spcBef>
                <a:spcPts val="500"/>
              </a:spcBef>
              <a:defRPr sz="850">
                <a:solidFill>
                  <a:srgbClr val="A5B8DA"/>
                </a:solidFill>
              </a:defRPr>
            </a:pPr>
            <a:r>
              <a:t>Unexpected modification indicators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85800" y="3666744"/>
            <a:ext cx="3794760" cy="566928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•  SESSION</a:t>
            </a:r>
          </a:p>
          <a:p>
            <a:pPr>
              <a:spcBef>
                <a:spcPts val="500"/>
              </a:spcBef>
              <a:defRPr sz="850">
                <a:solidFill>
                  <a:srgbClr val="A5B8DA"/>
                </a:solidFill>
              </a:defRPr>
            </a:pPr>
            <a:r>
              <a:t>Abnormal session transitions / behavior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85800" y="4416552"/>
            <a:ext cx="3794760" cy="566928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•  POLICY</a:t>
            </a:r>
          </a:p>
          <a:p>
            <a:pPr>
              <a:spcBef>
                <a:spcPts val="500"/>
              </a:spcBef>
              <a:defRPr sz="850">
                <a:solidFill>
                  <a:srgbClr val="A5B8DA"/>
                </a:solidFill>
              </a:defRPr>
            </a:pPr>
            <a:r>
              <a:t>Violation of approved security rules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892040" y="1417320"/>
            <a:ext cx="2788920" cy="34747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Σ  THREAT SCORE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Signal inputs</a:t>
            </a:r>
            <a:br/>
            <a:r>
              <a:t>↓</a:t>
            </a:r>
            <a:br/>
            <a:r>
              <a:t>Normalize</a:t>
            </a:r>
            <a:br/>
            <a:r>
              <a:t>↓</a:t>
            </a:r>
            <a:br/>
            <a:r>
              <a:t>Weight</a:t>
            </a:r>
            <a:br/>
            <a:r>
              <a:t>↓</a:t>
            </a:r>
            <a:br/>
            <a:r>
              <a:t>Calculate risk</a:t>
            </a:r>
            <a:br/>
            <a:r>
              <a:t>↓</a:t>
            </a:r>
            <a:br/>
            <a:r>
              <a:t>Compare policy threshold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4526280" y="2971800"/>
            <a:ext cx="274320" cy="0"/>
          </a:xfrm>
          <a:prstGeom prst="line">
            <a:avLst/>
          </a:prstGeom>
          <a:ln w="2540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8046720" y="1417320"/>
            <a:ext cx="3246120" cy="14173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◉  LOW / MEDIUM RISK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Monitor + log</a:t>
            </a:r>
            <a:br/>
            <a:r>
              <a:t>Do not disrupt normal operation.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046720" y="3154680"/>
            <a:ext cx="3246120" cy="14173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!  HIGH RISK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Verify incident → threshold → block / quarantine.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046720" y="4892040"/>
            <a:ext cx="3246120" cy="82296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✓  IMPORTANT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Detection ≠ proof. Verification precedes escalation.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06 • RESPONSE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Attack Counter &amp; Threshold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The threshold creates a controlled escalation mechanism and reduces reaction to isolated anomalies.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1  EVENT 1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Suspicious signal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017520" y="1371600"/>
            <a:ext cx="2011680" cy="9144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2  EVENT 2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Suspicious signal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303520" y="1371600"/>
            <a:ext cx="2011680" cy="9144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3  EVENT 3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Suspicious signal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589520" y="1371600"/>
            <a:ext cx="2011680" cy="9144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N  EVENT N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Threshold reached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2743200" y="1828800"/>
            <a:ext cx="228600" cy="0"/>
          </a:xfrm>
          <a:prstGeom prst="line">
            <a:avLst/>
          </a:prstGeom>
          <a:ln w="21590">
            <a:solidFill>
              <a:srgbClr val="FFC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029200" y="1828800"/>
            <a:ext cx="228600" cy="0"/>
          </a:xfrm>
          <a:prstGeom prst="line">
            <a:avLst/>
          </a:prstGeom>
          <a:ln w="21590">
            <a:solidFill>
              <a:srgbClr val="FFC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315200" y="1828800"/>
            <a:ext cx="228600" cy="0"/>
          </a:xfrm>
          <a:prstGeom prst="line">
            <a:avLst/>
          </a:prstGeom>
          <a:ln w="21590">
            <a:solidFill>
              <a:srgbClr val="FF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914400" y="2880360"/>
            <a:ext cx="4389120" cy="18288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NO  COUNT &lt; N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Monitor + continue observing</a:t>
            </a:r>
            <a:br/>
            <a:br/>
            <a:r>
              <a:t>Log event • increase counter • verify future events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400800" y="2880360"/>
            <a:ext cx="4389120" cy="18288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YES  COUNT ≥ N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Escalate</a:t>
            </a:r>
            <a:br/>
            <a:br/>
            <a:r>
              <a:t>Block session • quarantine affected data • begin security verification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926080" y="5257800"/>
            <a:ext cx="6309360" cy="6858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⚙  N IS A POLICY PARAMETER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It should be tuned and validated for the deployment environment.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07 • CONTAINMENT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Quarantine as a Security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Containment isolates the affected security context while trusted components remain operational.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85800" y="1371600"/>
            <a:ext cx="2880360" cy="356616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✓  NORMAL ZONE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Trusted application</a:t>
            </a:r>
            <a:br/>
            <a:br/>
            <a:r>
              <a:t>Protected data</a:t>
            </a:r>
            <a:br/>
            <a:br/>
            <a:r>
              <a:t>Active secure sessions</a:t>
            </a:r>
            <a:br/>
            <a:br/>
            <a:r>
              <a:t>Approved PQC policy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3840480" y="3154680"/>
            <a:ext cx="640080" cy="0"/>
          </a:xfrm>
          <a:prstGeom prst="line">
            <a:avLst/>
          </a:prstGeom>
          <a:ln w="25400">
            <a:solidFill>
              <a:srgbClr val="FF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4617720" y="1371600"/>
            <a:ext cx="2880360" cy="356616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⊘  QUARANTINE ZONE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Suspicious session</a:t>
            </a:r>
            <a:br/>
            <a:br/>
            <a:r>
              <a:t>Affected data</a:t>
            </a:r>
            <a:br/>
            <a:br/>
            <a:r>
              <a:t>Evidence / logs</a:t>
            </a:r>
            <a:br/>
            <a:br/>
            <a:r>
              <a:t>Restricted access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7772400" y="3154680"/>
            <a:ext cx="640080" cy="0"/>
          </a:xfrm>
          <a:prstGeom prst="line">
            <a:avLst/>
          </a:prstGeom>
          <a:ln w="2540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8549640" y="1371600"/>
            <a:ext cx="2880360" cy="356616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800" b="1">
                <a:solidFill>
                  <a:srgbClr val="F2F7FF"/>
                </a:solidFill>
              </a:defRPr>
            </a:pPr>
            <a:r>
              <a:t>✓  VERIFICATION ZONE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Integrity checks</a:t>
            </a:r>
            <a:br/>
            <a:br/>
            <a:r>
              <a:t>Leak indicators</a:t>
            </a:r>
            <a:br/>
            <a:br/>
            <a:r>
              <a:t>Session validation</a:t>
            </a:r>
            <a:br/>
            <a:br/>
            <a:r>
              <a:t>Recovery decision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53035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D37"/>
                </a:solidFill>
              </a:defRPr>
            </a:pPr>
            <a:r>
              <a:t>KEY IDEA: QUARANTINE FIRST → INVESTIGATE SAFELY → RESTORE ONLY AFTER VERIFICATION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08 • CRYPTO AGILITY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Crypto Agility: Controlled Algorithm Switching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The wrapper abstracts the cryptographic implementation from the application.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594360" y="1417320"/>
            <a:ext cx="2240280" cy="3429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700" b="1">
                <a:solidFill>
                  <a:srgbClr val="F2F7FF"/>
                </a:solidFill>
              </a:defRPr>
            </a:pPr>
            <a:r>
              <a:t>A  CURRENT MODE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Application</a:t>
            </a:r>
            <a:br/>
            <a:r>
              <a:t>↓</a:t>
            </a:r>
            <a:br/>
            <a:r>
              <a:t>PQC Wrapper</a:t>
            </a:r>
            <a:br/>
            <a:r>
              <a:t>↓</a:t>
            </a:r>
            <a:br/>
            <a:r>
              <a:t>Current approved algorithm</a:t>
            </a:r>
            <a:br/>
            <a:br/>
            <a:r>
              <a:t>Example:</a:t>
            </a:r>
            <a:br/>
            <a:r>
              <a:t>ML-KEM / ML-DSA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3017520" y="3154680"/>
            <a:ext cx="685800" cy="0"/>
          </a:xfrm>
          <a:prstGeom prst="line">
            <a:avLst/>
          </a:prstGeom>
          <a:ln w="2540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3840480" y="1417320"/>
            <a:ext cx="2560320" cy="3429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700" b="1">
                <a:solidFill>
                  <a:srgbClr val="F2F7FF"/>
                </a:solidFill>
              </a:defRPr>
            </a:pPr>
            <a:r>
              <a:t>!  TRIGGER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Verified incident</a:t>
            </a:r>
            <a:br/>
            <a:r>
              <a:t>+</a:t>
            </a:r>
            <a:br/>
            <a:r>
              <a:t>Threshold reached</a:t>
            </a:r>
            <a:br/>
            <a:r>
              <a:t>+</a:t>
            </a:r>
            <a:br/>
            <a:r>
              <a:t>Policy permits transition</a:t>
            </a:r>
            <a:br/>
            <a:br/>
            <a:r>
              <a:t>No arbitrary algorithm choice.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629400" y="3154680"/>
            <a:ext cx="640080" cy="0"/>
          </a:xfrm>
          <a:prstGeom prst="line">
            <a:avLst/>
          </a:prstGeom>
          <a:ln w="25400">
            <a:solidFill>
              <a:srgbClr val="FFC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7406640" y="1417320"/>
            <a:ext cx="2560320" cy="3429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700" b="1">
                <a:solidFill>
                  <a:srgbClr val="F2F7FF"/>
                </a:solidFill>
              </a:defRPr>
            </a:pPr>
            <a:r>
              <a:t>⚙  POLICY ENGINE</a:t>
            </a:r>
          </a:p>
          <a:p>
            <a:pPr>
              <a:spcBef>
                <a:spcPts val="500"/>
              </a:spcBef>
              <a:defRPr sz="1200">
                <a:solidFill>
                  <a:srgbClr val="A5B8DA"/>
                </a:solidFill>
              </a:defRPr>
            </a:pPr>
            <a:r>
              <a:t>Approved list</a:t>
            </a:r>
            <a:br/>
            <a:r>
              <a:t>Version check</a:t>
            </a:r>
            <a:br/>
            <a:r>
              <a:t>Compatibility</a:t>
            </a:r>
            <a:br/>
            <a:r>
              <a:t>Security level</a:t>
            </a:r>
            <a:br/>
            <a:r>
              <a:t>Audit reason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0195560" y="3154680"/>
            <a:ext cx="548640" cy="0"/>
          </a:xfrm>
          <a:prstGeom prst="line">
            <a:avLst/>
          </a:prstGeom>
          <a:ln w="25400">
            <a:solidFill>
              <a:srgbClr val="4BF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10835640" y="1417320"/>
            <a:ext cx="914400" cy="3429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B  NEW</a:t>
            </a:r>
            <a:br/>
            <a:r>
              <a:t>MODE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Fresh</a:t>
            </a:r>
            <a:br/>
            <a:r>
              <a:t>keys</a:t>
            </a:r>
            <a:br/>
            <a:r>
              <a:t>+</a:t>
            </a:r>
            <a:br/>
            <a:r>
              <a:t>session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0" y="53492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1FF"/>
                </a:solidFill>
              </a:defRPr>
            </a:pPr>
            <a:r>
              <a:t>ALGORITHM AGILITY ≠ RANDOM SWITCHING   |   POLICY-CONTROLLED TRANSITION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09 •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Re-Establish Security After an 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A secure recovery path should create a fresh cryptographic context instead of blindly resuming the old one.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40080" y="14173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1  Invalidate affected context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Do not reuse compromised session state.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22959" y="246888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8DA"/>
                </a:solidFill>
              </a:defRPr>
            </a:pPr>
            <a:r>
              <a:t>Do not reuse compromised session state.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434840" y="14173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2  Select approved mode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Apply the current cryptographic policy.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17720" y="246888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8DA"/>
                </a:solidFill>
              </a:defRPr>
            </a:pPr>
            <a:r>
              <a:t>Apply the current cryptographic policy.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3  Establish fresh keys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Create a new protected session.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412480" y="246888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8DA"/>
                </a:solidFill>
              </a:defRPr>
            </a:pPr>
            <a:r>
              <a:t>Create a new protected session.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0080" y="34747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4  Authenticate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Verify peer / endpoint identity.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2959" y="4526279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8DA"/>
                </a:solidFill>
              </a:defRPr>
            </a:pPr>
            <a:r>
              <a:t>Verify peer / endpoint identity.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434840" y="34747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5  Verify integrity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Check data and security indicators.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617720" y="4526279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8DA"/>
                </a:solidFill>
              </a:defRPr>
            </a:pPr>
            <a:r>
              <a:t>Check data and security indicators.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229600" y="347472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6  Resume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Return to protected service.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412480" y="4526279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8DA"/>
                </a:solidFill>
              </a:defRPr>
            </a:pPr>
            <a:r>
              <a:t>Return to protected service.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011680" y="5532120"/>
            <a:ext cx="813816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✓  RECOVERY GATE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Only transition to RESUME when required checks pass.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10 • SYSTEM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Reference Architecture: Detect → Respond → 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Your original architecture visualized as the system's operational control loop.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502920" y="1325880"/>
            <a:ext cx="7543800" cy="4892040"/>
          </a:xfrm>
          <a:prstGeom prst="roundRect">
            <a:avLst/>
          </a:prstGeom>
          <a:solidFill>
            <a:srgbClr val="020512"/>
          </a:solidFill>
          <a:ln w="1905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1000088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4289226" cy="4572000"/>
          </a:xfrm>
          <a:prstGeom prst="rect">
            <a:avLst/>
          </a:prstGeom>
        </p:spPr>
      </p:pic>
      <p:sp>
        <p:nvSpPr>
          <p:cNvPr id="146" name="Rounded Rectangle 145"/>
          <p:cNvSpPr/>
          <p:nvPr/>
        </p:nvSpPr>
        <p:spPr>
          <a:xfrm>
            <a:off x="8366760" y="1463040"/>
            <a:ext cx="2880360" cy="9601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01  DETECT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Suspicious activity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366760" y="2651760"/>
            <a:ext cx="2880360" cy="9601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02  RESPOND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Count • verify • block • quarantine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366760" y="3840480"/>
            <a:ext cx="2880360" cy="9601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03  ADAPT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Approved PQC alternative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366760" y="5029200"/>
            <a:ext cx="2880360" cy="9601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04  RECOVER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New security context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11 • CONTROL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Controller Logic: State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A deterministic controller makes the response auditable and testable.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502920" y="1417320"/>
            <a:ext cx="2514600" cy="1143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1  NORMAL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Monitor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3017520" y="1984248"/>
            <a:ext cx="320040" cy="0"/>
          </a:xfrm>
          <a:prstGeom prst="line">
            <a:avLst/>
          </a:prstGeom>
          <a:ln w="15240">
            <a:solidFill>
              <a:srgbClr val="4BF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3383280" y="1417320"/>
            <a:ext cx="2514600" cy="1143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2  SUSPECTED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Count + verify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5897880" y="1984248"/>
            <a:ext cx="320040" cy="0"/>
          </a:xfrm>
          <a:prstGeom prst="line">
            <a:avLst/>
          </a:prstGeom>
          <a:ln w="15240">
            <a:solidFill>
              <a:srgbClr val="FFC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6263640" y="1417320"/>
            <a:ext cx="2514600" cy="1143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3  ESCALATED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Threshold reached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8778240" y="1984248"/>
            <a:ext cx="320040" cy="0"/>
          </a:xfrm>
          <a:prstGeom prst="line">
            <a:avLst/>
          </a:prstGeom>
          <a:ln w="15240">
            <a:solidFill>
              <a:srgbClr val="FF4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9144000" y="1417320"/>
            <a:ext cx="2514600" cy="1143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4  QUARANTINED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Isolate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0405872" y="2560320"/>
            <a:ext cx="0" cy="704088"/>
          </a:xfrm>
          <a:prstGeom prst="line">
            <a:avLst/>
          </a:prstGeom>
          <a:ln w="1524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502920" y="3383280"/>
            <a:ext cx="2514600" cy="1143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5  VERIFYING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Integrity / status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3017520" y="3950208"/>
            <a:ext cx="320040" cy="0"/>
          </a:xfrm>
          <a:prstGeom prst="line">
            <a:avLst/>
          </a:prstGeom>
          <a:ln w="1524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3383280" y="3383280"/>
            <a:ext cx="2514600" cy="1143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6  ADAPTING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Approved algorithm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5897880" y="3950208"/>
            <a:ext cx="320040" cy="0"/>
          </a:xfrm>
          <a:prstGeom prst="line">
            <a:avLst/>
          </a:prstGeom>
          <a:ln w="1524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ounded Rectangle 155"/>
          <p:cNvSpPr/>
          <p:nvPr/>
        </p:nvSpPr>
        <p:spPr>
          <a:xfrm>
            <a:off x="6263640" y="3383280"/>
            <a:ext cx="2514600" cy="1143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7  RECOVERY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Fresh session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8778240" y="3950208"/>
            <a:ext cx="320040" cy="0"/>
          </a:xfrm>
          <a:prstGeom prst="line">
            <a:avLst/>
          </a:prstGeom>
          <a:ln w="15240">
            <a:solidFill>
              <a:srgbClr val="4BF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9144000" y="3383280"/>
            <a:ext cx="2514600" cy="11430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8  RESUMED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Secure data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920240" y="5486400"/>
            <a:ext cx="8321040" cy="566928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⚙  CONTROLLER RULE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Every transition has a trigger, a policy check, an action and an audit event.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12 •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Prototype Demonstration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A strong demo should show both the normal path and the adaptive recovery path.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85800" y="1490472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E1FF"/>
                </a:solidFill>
              </a:defRPr>
            </a:pPr>
            <a:r>
              <a:t>DEMO A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240280" y="1325880"/>
            <a:ext cx="274320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Normal secure message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212080" y="1325880"/>
            <a:ext cx="585216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→  Application → Wrapper → PQC → Receiver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85800" y="2359152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CD37"/>
                </a:solidFill>
              </a:defRPr>
            </a:pPr>
            <a:r>
              <a:t>DEMO B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240280" y="2194560"/>
            <a:ext cx="274320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Suspicious events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212080" y="2194560"/>
            <a:ext cx="585216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→  Generate test anomalies → counter increments → monitoring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85800" y="3227832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465A"/>
                </a:solidFill>
              </a:defRPr>
            </a:pPr>
            <a:r>
              <a:t>DEMO C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240280" y="3063239"/>
            <a:ext cx="274320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Threshold reached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212080" y="3063239"/>
            <a:ext cx="585216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→  Verify → block → quarantine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85800" y="4096511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BE4BFF"/>
                </a:solidFill>
              </a:defRPr>
            </a:pPr>
            <a:r>
              <a:t>DEMO D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240280" y="3931920"/>
            <a:ext cx="274320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Recovery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212080" y="3931920"/>
            <a:ext cx="585216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→  Integrity check → policy decision → new session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965192"/>
            <a:ext cx="1371600" cy="310896"/>
          </a:xfrm>
          <a:prstGeom prst="roundRect">
            <a:avLst/>
          </a:prstGeom>
          <a:solidFill>
            <a:srgbClr val="020512"/>
          </a:solidFill>
          <a:ln w="1270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4BF57D"/>
                </a:solidFill>
              </a:defRPr>
            </a:pPr>
            <a:r>
              <a:t>DEMO 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240280" y="4800600"/>
            <a:ext cx="274320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Algorithm transition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212080" y="4800600"/>
            <a:ext cx="5852160" cy="64008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300" b="1">
                <a:solidFill>
                  <a:srgbClr val="F2F7FF"/>
                </a:solidFill>
              </a:defRPr>
            </a:pPr>
            <a:r>
              <a:t>→  Wrapper selects an approved alternative → secure channel resumes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965960" y="5806440"/>
            <a:ext cx="8138160" cy="438912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200" b="1">
                <a:solidFill>
                  <a:srgbClr val="F2F7FF"/>
                </a:solidFill>
              </a:defRPr>
            </a:pPr>
            <a:r>
              <a:t>●  SHOW ON SCREEN</a:t>
            </a:r>
          </a:p>
          <a:p>
            <a:pPr>
              <a:spcBef>
                <a:spcPts val="500"/>
              </a:spcBef>
              <a:defRPr sz="800">
                <a:solidFill>
                  <a:srgbClr val="A5B8DA"/>
                </a:solidFill>
              </a:defRPr>
            </a:pPr>
            <a:r>
              <a:t>Attack counter • current algorithm • security state • event log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13 •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Evaluation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Measure whether the wrapper improves resilience without creating unacceptable overhead.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594360" y="1371600"/>
            <a:ext cx="25146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SECURITY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Detection precision / false-positive rate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429000" y="1371600"/>
            <a:ext cx="25146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RESPONSE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Time from verified incident to block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63640" y="1371600"/>
            <a:ext cx="25146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CONTAINMENT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Time to quarantine affected context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098280" y="1371600"/>
            <a:ext cx="25146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RECOVERY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Time to establish fresh secure session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94360" y="3383280"/>
            <a:ext cx="25146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AGILITY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Algorithm transition success rate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429000" y="3383280"/>
            <a:ext cx="25146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PERFORMANCE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Latency + CPU / memory overhead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263640" y="3383280"/>
            <a:ext cx="25146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RELIABILITY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Recovery success under repeated events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098280" y="3383280"/>
            <a:ext cx="25146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✓  AUDIT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Completeness of security event records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840" y="56235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1FF"/>
                </a:solidFill>
              </a:defRPr>
            </a:pPr>
            <a:r>
              <a:t>TARGET: SECURITY RESILIENCE + CRYPTO AGILITY + CONTROLLED PERFORMANCE COST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14 • DESIGN PRINCIPLES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Security Design Principles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Advanced creativity is useful only when it is backed by disciplined security controls.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40080" y="13716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◆  DEFAULT DENY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Unexpected transitions should fail safely.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434840" y="13716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◆  APPROVED LIST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Only vetted algorithms can be selected.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229600" y="13716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◆  VERIFY BEFORE ESCALATE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Separate anomaly detection from incident confirmation.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40080" y="34290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◆  VERIFY BEFORE RESUME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Recovery requires explicit security checks.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434840" y="34290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◆  FRESH CONTEXT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Do not blindly reuse affected keys or sessions.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229600" y="34290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◆  AUDIT EVERYTHING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Record security decisions and transitions.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828800" y="5577840"/>
            <a:ext cx="8503920" cy="50292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400" b="1">
                <a:solidFill>
                  <a:srgbClr val="F2F7FF"/>
                </a:solidFill>
              </a:defRPr>
            </a:pPr>
            <a:r>
              <a:t>★  SECURITY PHILOSOPHY</a:t>
            </a:r>
          </a:p>
          <a:p>
            <a:pPr>
              <a:spcBef>
                <a:spcPts val="500"/>
              </a:spcBef>
              <a:defRPr sz="900">
                <a:solidFill>
                  <a:srgbClr val="A5B8DA"/>
                </a:solidFill>
              </a:defRPr>
            </a:pPr>
            <a:r>
              <a:t>Detect early • contain quickly • adapt safely • recover explicitly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8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4BFF"/>
                </a:solidFill>
              </a:defRPr>
            </a:pPr>
            <a:r>
              <a:t>15 •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E1FF"/>
                </a:solidFill>
              </a:defRPr>
            </a:pPr>
            <a:r>
              <a:t>Future Enhancements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241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5B8DA"/>
                </a:solidFill>
              </a:defRPr>
            </a:pPr>
            <a:r>
              <a:t>The wrapper can evolve from a prototype into a policy-driven security control plane.</a:t>
            </a:r>
          </a:p>
        </p:txBody>
      </p:sp>
      <p:sp>
        <p:nvSpPr>
          <p:cNvPr id="18" name="Oval 17"/>
          <p:cNvSpPr/>
          <p:nvPr/>
        </p:nvSpPr>
        <p:spPr>
          <a:xfrm>
            <a:off x="10878616" y="454456"/>
            <a:ext cx="279806" cy="27980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91490"/>
            <a:ext cx="205740" cy="20574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65027" y="540867"/>
            <a:ext cx="106984" cy="106984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1309873" y="670711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95036" y="685363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273391" y="697774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245469" y="707639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11960" y="714715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73687" y="718827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1131593" y="717831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1086716" y="712747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1040159" y="704748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993069" y="694032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946606" y="680860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901914" y="6655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860093" y="648505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822172" y="630118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89087" y="610850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61651" y="591176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740540" y="571580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726274" y="552545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19203" y="534540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19203" y="518008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19503" y="503356"/>
            <a:ext cx="7663" cy="146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27166" y="490945"/>
            <a:ext cx="14837" cy="1241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42003" y="481080"/>
            <a:ext cx="21645" cy="98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63648" y="474004"/>
            <a:ext cx="27922" cy="707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91570" y="469892"/>
            <a:ext cx="33509" cy="411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825079" y="468845"/>
            <a:ext cx="38273" cy="104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63352" y="468845"/>
            <a:ext cx="42094" cy="204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05446" y="470888"/>
            <a:ext cx="44877" cy="508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950323" y="475972"/>
            <a:ext cx="46557" cy="799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6880" y="483971"/>
            <a:ext cx="47090" cy="1071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43970" y="494687"/>
            <a:ext cx="46463" cy="1317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90433" y="507859"/>
            <a:ext cx="44692" cy="1530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35125" y="523160"/>
            <a:ext cx="41821" cy="1705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76946" y="540214"/>
            <a:ext cx="37921" cy="1838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214867" y="558601"/>
            <a:ext cx="33085" cy="1926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47952" y="577869"/>
            <a:ext cx="27436" cy="1967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75388" y="597543"/>
            <a:ext cx="21111" cy="195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96499" y="617139"/>
            <a:ext cx="14266" cy="1903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10765" y="636174"/>
            <a:ext cx="7071" cy="1800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317536" y="654179"/>
            <a:ext cx="300" cy="1653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169668" y="85404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50352" y="858511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1127790" y="850975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1102537" y="837120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1075216" y="817287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046498" y="791965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017092" y="761778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0987720" y="727468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0959107" y="689880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0931957" y="649940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0906939" y="608632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884668" y="566973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865692" y="525987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0850480" y="486686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839406" y="450035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0832742" y="416938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0830652" y="388210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830652" y="36455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33189" y="346565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40288" y="334673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851777" y="329176"/>
            <a:ext cx="15594" cy="54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67371" y="329176"/>
            <a:ext cx="19316" cy="103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886687" y="330208"/>
            <a:ext cx="22562" cy="753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09249" y="337744"/>
            <a:ext cx="25253" cy="1385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34502" y="351599"/>
            <a:ext cx="27321" cy="198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961823" y="371432"/>
            <a:ext cx="28718" cy="2532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990541" y="396754"/>
            <a:ext cx="29406" cy="3018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019947" y="426941"/>
            <a:ext cx="29372" cy="3431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049319" y="461251"/>
            <a:ext cx="28613" cy="3758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077932" y="498839"/>
            <a:ext cx="27150" cy="3994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05082" y="538779"/>
            <a:ext cx="25018" cy="413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130100" y="580087"/>
            <a:ext cx="22271" cy="4165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152371" y="621746"/>
            <a:ext cx="18976" cy="4098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71347" y="662732"/>
            <a:ext cx="15212" cy="3930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86559" y="702033"/>
            <a:ext cx="11074" cy="36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197633" y="738684"/>
            <a:ext cx="6664" cy="3309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204297" y="771781"/>
            <a:ext cx="2090" cy="2872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203850" y="800509"/>
            <a:ext cx="2537" cy="2365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1196751" y="824160"/>
            <a:ext cx="7099" cy="1799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185262" y="842154"/>
            <a:ext cx="11489" cy="11892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0877041" y="864826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0867473" y="848015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0861624" y="824957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0859639" y="79622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859639" y="762516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861565" y="724670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867357" y="683614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876871" y="640362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89872" y="595976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06041" y="551550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924980" y="50817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946222" y="46693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969244" y="428818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993480" y="394783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018332" y="365662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43189" y="342172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067438" y="324892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090483" y="31424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111756" y="310499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130733" y="310499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146947" y="313741"/>
            <a:ext cx="13051" cy="101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159998" y="323893"/>
            <a:ext cx="9568" cy="1681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69566" y="340704"/>
            <a:ext cx="5849" cy="2305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75415" y="363762"/>
            <a:ext cx="1985" cy="287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1175474" y="392497"/>
            <a:ext cx="1926" cy="3370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1169682" y="426203"/>
            <a:ext cx="5792" cy="3784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160168" y="464049"/>
            <a:ext cx="9514" cy="4105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1147167" y="505105"/>
            <a:ext cx="13001" cy="4325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1130998" y="548357"/>
            <a:ext cx="16169" cy="4438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1112059" y="592743"/>
            <a:ext cx="18939" cy="44426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090817" y="637169"/>
            <a:ext cx="21242" cy="4337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067795" y="680540"/>
            <a:ext cx="23022" cy="4124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043559" y="721789"/>
            <a:ext cx="24236" cy="3811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018707" y="759901"/>
            <a:ext cx="24852" cy="3403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0993850" y="793936"/>
            <a:ext cx="24857" cy="2912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969601" y="823057"/>
            <a:ext cx="24249" cy="2349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0946556" y="846547"/>
            <a:ext cx="23045" cy="1728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0925283" y="863827"/>
            <a:ext cx="21273" cy="1064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0906306" y="874472"/>
            <a:ext cx="18977" cy="37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890092" y="874978"/>
            <a:ext cx="16214" cy="32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1285982" y="573786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09910" y="614934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018520" y="298094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594360" y="13716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01  Risk-aware detection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Combine multiple telemetry signals into explainable risk scoring.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389120" y="13716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02  Policy engine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Versioned policies for algorithm selection and incident response.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183880" y="13716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03  Hardware-backed keys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Integrate protected key storage where available.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94360" y="34290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04  Distributed resilience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Coordinate security state across multiple services.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389120" y="34290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C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05  Continuous validation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Automated testing of migration, recovery and failure modes.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183880" y="3429000"/>
            <a:ext cx="3429000" cy="160020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500" b="1">
                <a:solidFill>
                  <a:srgbClr val="F2F7FF"/>
                </a:solidFill>
              </a:defRPr>
            </a:pPr>
            <a:r>
              <a:t>06  Zero-trust integration</a:t>
            </a:r>
          </a:p>
          <a:p>
            <a:pPr>
              <a:spcBef>
                <a:spcPts val="500"/>
              </a:spcBef>
              <a:defRPr sz="1050">
                <a:solidFill>
                  <a:srgbClr val="A5B8DA"/>
                </a:solidFill>
              </a:defRPr>
            </a:pPr>
            <a:r>
              <a:t>Make identity, session and policy checks continuous.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1FF"/>
                </a:solidFill>
              </a:defRPr>
            </a:pPr>
            <a:r>
              <a:t>VISION: A CRYPTOGRAPHIC CONTROL PLANE THAT CAN ADAPT WITHOUT BREAKING THE APPLICATION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375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182880"/>
            <a:ext cx="0" cy="635508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" y="118872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" y="242316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" y="365760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" y="489204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" y="6126480"/>
            <a:ext cx="11795760" cy="0"/>
          </a:xfrm>
          <a:prstGeom prst="line">
            <a:avLst/>
          </a:prstGeom>
          <a:ln w="4445">
            <a:solidFill>
              <a:srgbClr val="11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03766" y="1605686"/>
            <a:ext cx="994867" cy="994867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1737360"/>
            <a:ext cx="731520" cy="73152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1004" y="1912924"/>
            <a:ext cx="380390" cy="380390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10637123" y="2374591"/>
            <a:ext cx="27245" cy="520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584369" y="2426687"/>
            <a:ext cx="52754" cy="44130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507408" y="2470817"/>
            <a:ext cx="76961" cy="3507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408132" y="2505892"/>
            <a:ext cx="99276" cy="2515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288987" y="2531049"/>
            <a:ext cx="119145" cy="1462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152906" y="2545670"/>
            <a:ext cx="136081" cy="372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0003240" y="2542128"/>
            <a:ext cx="149666" cy="72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9843675" y="2524053"/>
            <a:ext cx="159565" cy="1807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9678139" y="2495613"/>
            <a:ext cx="165536" cy="28440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9510709" y="2457509"/>
            <a:ext cx="167430" cy="3810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9345507" y="2410678"/>
            <a:ext cx="165202" cy="4683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9186601" y="2356275"/>
            <a:ext cx="158906" cy="5440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037904" y="2295637"/>
            <a:ext cx="148697" cy="6063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8903077" y="2230260"/>
            <a:ext cx="134827" cy="6537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8785440" y="2161751"/>
            <a:ext cx="117637" cy="6850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8687889" y="2091799"/>
            <a:ext cx="97551" cy="699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8612828" y="2022126"/>
            <a:ext cx="75061" cy="6967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562103" y="1954447"/>
            <a:ext cx="50725" cy="6767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536965" y="1890429"/>
            <a:ext cx="25138" cy="6401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536965" y="1831648"/>
            <a:ext cx="1066" cy="5878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38031" y="1779552"/>
            <a:ext cx="27245" cy="52096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5276" y="1735422"/>
            <a:ext cx="52754" cy="44130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8030" y="1700347"/>
            <a:ext cx="76961" cy="3507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94991" y="1675190"/>
            <a:ext cx="99276" cy="2515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94267" y="1660569"/>
            <a:ext cx="119145" cy="1462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913412" y="1656846"/>
            <a:ext cx="136081" cy="372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49493" y="1656846"/>
            <a:ext cx="149666" cy="726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199159" y="1664111"/>
            <a:ext cx="159565" cy="18075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358724" y="1682186"/>
            <a:ext cx="165536" cy="28440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524260" y="1710626"/>
            <a:ext cx="167430" cy="38104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91690" y="1748730"/>
            <a:ext cx="165202" cy="4683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56892" y="1795561"/>
            <a:ext cx="158906" cy="5440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15798" y="1849964"/>
            <a:ext cx="148697" cy="6063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164495" y="1910602"/>
            <a:ext cx="134827" cy="65377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299322" y="1975979"/>
            <a:ext cx="117637" cy="6850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416959" y="2044488"/>
            <a:ext cx="97551" cy="69952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514510" y="2114440"/>
            <a:ext cx="75061" cy="69673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589571" y="2184113"/>
            <a:ext cx="50725" cy="67679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640296" y="2251792"/>
            <a:ext cx="25138" cy="64018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0664368" y="2315810"/>
            <a:ext cx="1066" cy="58781"/>
          </a:xfrm>
          <a:prstGeom prst="line">
            <a:avLst/>
          </a:prstGeom>
          <a:ln w="13970">
            <a:solidFill>
              <a:srgbClr val="00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0138616" y="3026449"/>
            <a:ext cx="55446" cy="1954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10069937" y="3042326"/>
            <a:ext cx="68679" cy="367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9989717" y="3015530"/>
            <a:ext cx="80220" cy="2679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9899929" y="2966267"/>
            <a:ext cx="89788" cy="4926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9802786" y="2895751"/>
            <a:ext cx="97143" cy="7051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9700679" y="2805718"/>
            <a:ext cx="102107" cy="900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9596123" y="2698384"/>
            <a:ext cx="104556" cy="10733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9491691" y="2576393"/>
            <a:ext cx="104432" cy="12199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9389957" y="2442748"/>
            <a:ext cx="101734" cy="13364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9293423" y="2300740"/>
            <a:ext cx="96534" cy="1420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9204468" y="2153867"/>
            <a:ext cx="88955" cy="14687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9125282" y="2005744"/>
            <a:ext cx="79186" cy="14812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9057815" y="1860018"/>
            <a:ext cx="67467" cy="14572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9003727" y="1720279"/>
            <a:ext cx="54088" cy="13973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8964351" y="1589966"/>
            <a:ext cx="39376" cy="13031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8940657" y="1472289"/>
            <a:ext cx="23694" cy="11767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8933227" y="1370145"/>
            <a:ext cx="7430" cy="10214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933227" y="1286049"/>
            <a:ext cx="9018" cy="8409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942245" y="1222073"/>
            <a:ext cx="25244" cy="6397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967489" y="1179790"/>
            <a:ext cx="40848" cy="4228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008337" y="1160243"/>
            <a:ext cx="55446" cy="1954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063783" y="1160243"/>
            <a:ext cx="68679" cy="3670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132462" y="1163913"/>
            <a:ext cx="80220" cy="2679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212682" y="1190709"/>
            <a:ext cx="89788" cy="4926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302470" y="1239972"/>
            <a:ext cx="97143" cy="7051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399613" y="1310488"/>
            <a:ext cx="102107" cy="9003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501720" y="1400521"/>
            <a:ext cx="104556" cy="10733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606276" y="1507855"/>
            <a:ext cx="104432" cy="121991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710708" y="1629846"/>
            <a:ext cx="101734" cy="133645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12442" y="1763491"/>
            <a:ext cx="96534" cy="142008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908976" y="1905499"/>
            <a:ext cx="88955" cy="14687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997931" y="2052372"/>
            <a:ext cx="79186" cy="14812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077117" y="2200495"/>
            <a:ext cx="67467" cy="14572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144584" y="2346221"/>
            <a:ext cx="54088" cy="139739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198672" y="2485960"/>
            <a:ext cx="39376" cy="13031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238048" y="2616273"/>
            <a:ext cx="23694" cy="117677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261742" y="2733950"/>
            <a:ext cx="7430" cy="102144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10260154" y="2836094"/>
            <a:ext cx="9018" cy="8409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10234910" y="2920190"/>
            <a:ext cx="25244" cy="63976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10194062" y="2984166"/>
            <a:ext cx="40848" cy="42283"/>
          </a:xfrm>
          <a:prstGeom prst="line">
            <a:avLst/>
          </a:prstGeom>
          <a:ln w="13970">
            <a:solidFill>
              <a:srgbClr val="BE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9098164" y="3064779"/>
            <a:ext cx="46406" cy="3609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9064145" y="3005004"/>
            <a:ext cx="34019" cy="5977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9043349" y="2923023"/>
            <a:ext cx="20796" cy="8198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9036290" y="2820853"/>
            <a:ext cx="7059" cy="10217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036290" y="2701009"/>
            <a:ext cx="6851" cy="11984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043141" y="2566444"/>
            <a:ext cx="20592" cy="13456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063733" y="2420470"/>
            <a:ext cx="33826" cy="14597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097559" y="2266682"/>
            <a:ext cx="46227" cy="15378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143786" y="2108867"/>
            <a:ext cx="57491" cy="15781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201277" y="1950910"/>
            <a:ext cx="67338" cy="15795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268615" y="1796700"/>
            <a:ext cx="75527" cy="15421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344142" y="1650036"/>
            <a:ext cx="81857" cy="14666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425999" y="1514529"/>
            <a:ext cx="86171" cy="13550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512170" y="1393514"/>
            <a:ext cx="88363" cy="12101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600533" y="1289972"/>
            <a:ext cx="88380" cy="1035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688913" y="1206453"/>
            <a:ext cx="86219" cy="8351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775132" y="1145012"/>
            <a:ext cx="81937" cy="6144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857069" y="1107164"/>
            <a:ext cx="75637" cy="378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932706" y="1093839"/>
            <a:ext cx="67474" cy="1332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000180" y="1093839"/>
            <a:ext cx="57649" cy="1152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057829" y="1105366"/>
            <a:ext cx="46406" cy="3609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104235" y="1141460"/>
            <a:ext cx="34019" cy="5977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138254" y="1201235"/>
            <a:ext cx="20796" cy="8198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159050" y="1283216"/>
            <a:ext cx="7059" cy="10217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10159258" y="1385386"/>
            <a:ext cx="6851" cy="11984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10138666" y="1505230"/>
            <a:ext cx="20592" cy="13456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10104840" y="1639795"/>
            <a:ext cx="33826" cy="14597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0058613" y="1785769"/>
            <a:ext cx="46227" cy="15378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0001122" y="1939557"/>
            <a:ext cx="57491" cy="15781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9933784" y="2097372"/>
            <a:ext cx="67338" cy="15795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9858257" y="2255329"/>
            <a:ext cx="75527" cy="154210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9776400" y="2409539"/>
            <a:ext cx="81857" cy="146664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9690229" y="2556203"/>
            <a:ext cx="86171" cy="13550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9601866" y="2691710"/>
            <a:ext cx="88363" cy="12101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9513486" y="2812725"/>
            <a:ext cx="88380" cy="103542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9427267" y="2916267"/>
            <a:ext cx="86219" cy="83519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9345330" y="2999786"/>
            <a:ext cx="81937" cy="61441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9269693" y="3061227"/>
            <a:ext cx="75637" cy="37848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9202219" y="3099075"/>
            <a:ext cx="67474" cy="13325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9144570" y="3100873"/>
            <a:ext cx="57649" cy="11527"/>
          </a:xfrm>
          <a:prstGeom prst="line">
            <a:avLst/>
          </a:prstGeom>
          <a:ln w="13970">
            <a:solidFill>
              <a:srgbClr val="46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10657332" y="2135124"/>
            <a:ext cx="82296" cy="8229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609076" y="2281428"/>
            <a:ext cx="82296" cy="82296"/>
          </a:xfrm>
          <a:prstGeom prst="ellipse">
            <a:avLst/>
          </a:prstGeom>
          <a:solidFill>
            <a:srgbClr val="B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706356" y="1154887"/>
            <a:ext cx="82296" cy="82296"/>
          </a:xfrm>
          <a:prstGeom prst="ellipse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85800" y="7315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0E1FF"/>
                </a:solidFill>
              </a:defRPr>
            </a:pPr>
            <a:r>
              <a:t>FROM CLASSICAL TO QUANTUM-SAFE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13232" y="1508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7FF"/>
                </a:solidFill>
              </a:defRPr>
            </a:pPr>
            <a:r>
              <a:t>Adaptive PQC Wrapper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1520" y="233172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5B8DA"/>
                </a:solidFill>
              </a:defRPr>
            </a:pPr>
            <a:r>
              <a:t>Detect  →  Respond  →  Adapt  →  Re-establish  →  Resume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31520" y="3749039"/>
            <a:ext cx="2331720" cy="100584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4BF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◉  DETECT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Threat awareness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246120" y="3749039"/>
            <a:ext cx="2331720" cy="100584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FF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⊘  CONTAIN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Block + quarantine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760720" y="3749039"/>
            <a:ext cx="2331720" cy="100584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B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↔  ADAPT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Approved PQC switch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275320" y="3749039"/>
            <a:ext cx="2331720" cy="1005840"/>
          </a:xfrm>
          <a:prstGeom prst="roundRect">
            <a:avLst/>
          </a:prstGeom>
          <a:solidFill>
            <a:srgbClr val="071028"/>
          </a:solidFill>
          <a:ln w="17780">
            <a:solidFill>
              <a:srgbClr val="0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>
              <a:defRPr sz="1600" b="1">
                <a:solidFill>
                  <a:srgbClr val="F2F7FF"/>
                </a:solidFill>
              </a:defRPr>
            </a:pPr>
            <a:r>
              <a:t>✓  RECOVER</a:t>
            </a:r>
          </a:p>
          <a:p>
            <a:pPr>
              <a:spcBef>
                <a:spcPts val="500"/>
              </a:spcBef>
              <a:defRPr sz="1000">
                <a:solidFill>
                  <a:srgbClr val="A5B8DA"/>
                </a:solidFill>
              </a:defRPr>
            </a:pPr>
            <a:r>
              <a:t>Fresh secure context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400" y="54864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1FF"/>
                </a:solidFill>
              </a:defRPr>
            </a:pPr>
            <a:r>
              <a:t>ML-KEM  •  ML-DSA  •  Threat Detection  •  Incident Response  •  Crypto Agility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94360" y="6537960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8DA"/>
                </a:solidFill>
              </a:defRPr>
            </a:pPr>
            <a:r>
              <a:t>ADAPTIVE PQC WRAPPER  •  QUANTUM-RESILIENT SECURITY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00E1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